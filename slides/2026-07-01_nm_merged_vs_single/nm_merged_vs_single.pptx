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3332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25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2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22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DEC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single ukr</c:v>
                  </c:pt>
                  <c:pt idx="1">
                    <c:v>single covid</c:v>
                  </c:pt>
                  <c:pt idx="2">
                    <c:v>merged</c:v>
                  </c:pt>
                  <c:pt idx="3">
                    <c:v>merged-within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0.884</c:v>
                </c:pt>
                <c:pt idx="1">
                  <c:v>0.884</c:v>
                </c:pt>
                <c:pt idx="2">
                  <c:v>0.876</c:v>
                </c:pt>
                <c:pt idx="3">
                  <c:v>0.885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725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725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6"/>
          <c:min val="0.83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3332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25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2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7DEC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B5A4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single covid</c:v>
                  </c:pt>
                  <c:pt idx="1">
                    <c:v>merged</c:v>
                  </c:pt>
                  <c:pt idx="2">
                    <c:v>merged-within</c:v>
                  </c:pt>
                  <c:pt idx="3">
                    <c:v>merged-bal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0.926</c:v>
                </c:pt>
                <c:pt idx="1">
                  <c:v>0.925</c:v>
                </c:pt>
                <c:pt idx="2">
                  <c:v>0.924</c:v>
                </c:pt>
                <c:pt idx="3">
                  <c:v>0.921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725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725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6"/>
          <c:min val="0.9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97896" y="996696"/>
            <a:ext cx="201168" cy="20116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46536" y="1453896"/>
            <a:ext cx="201168" cy="201168"/>
          </a:xfrm>
          <a:prstGeom prst="ellipse">
            <a:avLst/>
          </a:prstGeom>
          <a:solidFill>
            <a:srgbClr val="A7DE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23576" y="1728216"/>
            <a:ext cx="201168" cy="201168"/>
          </a:xfrm>
          <a:prstGeom prst="ellipse">
            <a:avLst/>
          </a:prstGeom>
          <a:solidFill>
            <a:srgbClr val="C77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20856" y="2185416"/>
            <a:ext cx="201168" cy="20116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0776" y="2368296"/>
            <a:ext cx="201168" cy="201168"/>
          </a:xfrm>
          <a:prstGeom prst="ellipse">
            <a:avLst/>
          </a:prstGeom>
          <a:solidFill>
            <a:srgbClr val="A7DE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0" y="1197864"/>
            <a:ext cx="621792" cy="402336"/>
          </a:xfrm>
          <a:prstGeom prst="line">
            <a:avLst/>
          </a:prstGeom>
          <a:noFill/>
          <a:ln w="19050">
            <a:solidFill>
              <a:srgbClr val="3C6E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197864"/>
            <a:ext cx="384048" cy="658368"/>
          </a:xfrm>
          <a:prstGeom prst="line">
            <a:avLst/>
          </a:prstGeom>
          <a:noFill/>
          <a:ln w="19050">
            <a:solidFill>
              <a:srgbClr val="3C6E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54512" y="1627632"/>
            <a:ext cx="320040" cy="658368"/>
          </a:xfrm>
          <a:prstGeom prst="line">
            <a:avLst/>
          </a:prstGeom>
          <a:noFill/>
          <a:ln w="19050">
            <a:solidFill>
              <a:srgbClr val="3C6E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A7D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NEIGHBOR-MATCHING ON RETWEET GRAPHS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0574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training on more graphs help?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graphs you train on — </a:t>
            </a:r>
            <a:pPr indent="0" marL="0">
              <a:buNone/>
            </a:pPr>
            <a:r>
              <a:rPr lang="en-US" sz="2000" b="1" dirty="0">
                <a:solidFill>
                  <a:srgbClr val="A7D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merging wins.</a:t>
            </a:r>
            <a:pPr indent="0" marL="0">
              <a:buNone/>
            </a:pPr>
            <a:r>
              <a:rPr lang="en-US" sz="2000" dirty="0">
                <a:solidFill>
                  <a:srgbClr val="CF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On a new, unseen graph — </a:t>
            </a:r>
            <a:pPr indent="0" marL="0">
              <a:buNone/>
            </a:pPr>
            <a:r>
              <a:rPr lang="en-US" sz="2000" b="1" dirty="0">
                <a:solidFill>
                  <a:srgbClr val="C77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boost.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training strategies · neighbor-matching · 3-shot / 30-way · single seed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1 OF 4 · BASELINE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Single-source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one graph only.</a:t>
            </a:r>
            <a:endParaRPr lang="en-US" sz="17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neighbor-matching episode — a center node, its true neighbor, and negatives — is drawn from that single graph.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C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its own domain, but nothing forces it to work anywhere else.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0" y="173736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6E3D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0" y="40050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graph (e.g. covid)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68896" y="2562149"/>
            <a:ext cx="603504" cy="-210312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2351837"/>
            <a:ext cx="603504" cy="210312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68896" y="2562149"/>
            <a:ext cx="192024" cy="441655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60920" y="3003804"/>
            <a:ext cx="685800" cy="-63094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2351837"/>
            <a:ext cx="274320" cy="588874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2940710"/>
            <a:ext cx="548640" cy="168250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0920" y="3003804"/>
            <a:ext cx="301752" cy="315468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2940710"/>
            <a:ext cx="-384048" cy="378562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62672" y="3319272"/>
            <a:ext cx="-603504" cy="-42062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60920" y="3003804"/>
            <a:ext cx="-301752" cy="273406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95744" y="2488997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99248" y="2278685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2752" y="2488997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87768" y="2930652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73568" y="2867558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22208" y="3035808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0" y="3246120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86016" y="3204058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81160" y="3017520"/>
            <a:ext cx="640080" cy="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012680" y="233172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EEF5F1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12680" y="2404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337292" y="3026664"/>
            <a:ext cx="310896" cy="310896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10444" y="3099816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10494" y="2825496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082528" y="3154680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650474" y="331927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2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Merged (naive)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the graphs as disjoint components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 edges between them).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episodes uniformly over all merged nodes — so a single episode can contain nodes from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A84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sources.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6C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mixing is what the next two strategies fix.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126480" y="1737360"/>
            <a:ext cx="2286000" cy="265176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6E3D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0" y="40050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 (covid)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66560" y="2562149"/>
            <a:ext cx="502920" cy="-210312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2351837"/>
            <a:ext cx="502920" cy="210312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0" y="2562149"/>
            <a:ext cx="160020" cy="441655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26580" y="3003804"/>
            <a:ext cx="571500" cy="-63094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69480" y="2351837"/>
            <a:ext cx="228600" cy="588874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2940710"/>
            <a:ext cx="457200" cy="168250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26580" y="3003804"/>
            <a:ext cx="251460" cy="315468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2940710"/>
            <a:ext cx="-320040" cy="378562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78040" y="3319272"/>
            <a:ext cx="-502920" cy="-42062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26580" y="3003804"/>
            <a:ext cx="-251460" cy="273406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93408" y="2488997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96328" y="2278685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99248" y="2488997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3428" y="2930652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24928" y="2867558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82128" y="3035808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04888" y="3246120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01968" y="3204058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4480560"/>
            <a:ext cx="22860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E3D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26480" y="60167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B (ukr)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66560" y="5056632"/>
            <a:ext cx="502920" cy="-137160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69480" y="4919472"/>
            <a:ext cx="502920" cy="137160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0" y="5056632"/>
            <a:ext cx="160020" cy="288036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26580" y="5344668"/>
            <a:ext cx="571500" cy="-41148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69480" y="4919472"/>
            <a:ext cx="228600" cy="384048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5303520"/>
            <a:ext cx="457200" cy="109728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26580" y="5344668"/>
            <a:ext cx="251460" cy="205740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98080" y="5303520"/>
            <a:ext cx="-320040" cy="246888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78040" y="5550408"/>
            <a:ext cx="-502920" cy="-27432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26580" y="5344668"/>
            <a:ext cx="-251460" cy="178308"/>
          </a:xfrm>
          <a:prstGeom prst="line">
            <a:avLst/>
          </a:prstGeom>
          <a:noFill/>
          <a:ln w="15875">
            <a:solidFill>
              <a:srgbClr val="D6E3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93408" y="4983480"/>
            <a:ext cx="146304" cy="146304"/>
          </a:xfrm>
          <a:prstGeom prst="ellipse">
            <a:avLst/>
          </a:prstGeom>
          <a:solidFill>
            <a:srgbClr val="C77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96328" y="4846320"/>
            <a:ext cx="146304" cy="146304"/>
          </a:xfrm>
          <a:prstGeom prst="ellipse">
            <a:avLst/>
          </a:prstGeom>
          <a:solidFill>
            <a:srgbClr val="C77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99248" y="4983480"/>
            <a:ext cx="146304" cy="146304"/>
          </a:xfrm>
          <a:prstGeom prst="ellipse">
            <a:avLst/>
          </a:prstGeom>
          <a:solidFill>
            <a:srgbClr val="C77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3428" y="5271516"/>
            <a:ext cx="146304" cy="146304"/>
          </a:xfrm>
          <a:prstGeom prst="ellipse">
            <a:avLst/>
          </a:prstGeom>
          <a:solidFill>
            <a:srgbClr val="C77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24928" y="5230368"/>
            <a:ext cx="146304" cy="146304"/>
          </a:xfrm>
          <a:prstGeom prst="ellipse">
            <a:avLst/>
          </a:prstGeom>
          <a:solidFill>
            <a:srgbClr val="C77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82128" y="5340096"/>
            <a:ext cx="146304" cy="146304"/>
          </a:xfrm>
          <a:prstGeom prst="ellipse">
            <a:avLst/>
          </a:prstGeom>
          <a:solidFill>
            <a:srgbClr val="C77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04888" y="5477256"/>
            <a:ext cx="146304" cy="146304"/>
          </a:xfrm>
          <a:prstGeom prst="ellipse">
            <a:avLst/>
          </a:prstGeom>
          <a:solidFill>
            <a:srgbClr val="C77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01968" y="5449824"/>
            <a:ext cx="146304" cy="146304"/>
          </a:xfrm>
          <a:prstGeom prst="ellipse">
            <a:avLst/>
          </a:prstGeom>
          <a:solidFill>
            <a:srgbClr val="C77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49640" y="3291840"/>
            <a:ext cx="640080" cy="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9281160" y="2514600"/>
            <a:ext cx="2194560" cy="1737360"/>
          </a:xfrm>
          <a:prstGeom prst="roundRect">
            <a:avLst>
              <a:gd name="adj" fmla="val 5263"/>
            </a:avLst>
          </a:prstGeom>
          <a:solidFill>
            <a:srgbClr val="EEF5F1"/>
          </a:solidFill>
          <a:ln w="19050">
            <a:solidFill>
              <a:srgbClr val="A8481F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9281160" y="2587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episode — mixes sources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740189" y="3401568"/>
            <a:ext cx="310896" cy="310896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77D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813341" y="3474720"/>
            <a:ext cx="164592" cy="164592"/>
          </a:xfrm>
          <a:prstGeom prst="ellipse">
            <a:avLst/>
          </a:prstGeom>
          <a:solidFill>
            <a:srgbClr val="C77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296144" y="3127248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691165" y="3509467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64470" y="3787445"/>
            <a:ext cx="164592" cy="164592"/>
          </a:xfrm>
          <a:prstGeom prst="ellipse">
            <a:avLst/>
          </a:prstGeom>
          <a:solidFill>
            <a:srgbClr val="C77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954512" y="319674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3 OF 4 · IMPROVEMENT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Merged-within-source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7ECE4"/>
          </a:solidFill>
          <a:ln w="12700">
            <a:solidFill>
              <a:srgbClr val="E4C4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A84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— cross-source shortcut.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mixed episode the true neighbor and the negatives come from different graphs, so the model can separate them by </a:t>
            </a:r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A84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source they belong to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by neighborhood structure. It learns a shortcut that doesn't transfer.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1280160" y="306324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BF4EE"/>
          </a:solidFill>
          <a:ln w="19050">
            <a:solidFill>
              <a:srgbClr val="A8481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280160" y="3136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episode (mixed)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12264" y="4279392"/>
            <a:ext cx="310896" cy="310896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77D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85416" y="4352544"/>
            <a:ext cx="164592" cy="164592"/>
          </a:xfrm>
          <a:prstGeom prst="ellipse">
            <a:avLst/>
          </a:prstGeom>
          <a:solidFill>
            <a:srgbClr val="C77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09621" y="3895344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2152" y="4443984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12110" y="4809744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97173" y="4032504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5394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A84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negatives are all the OTHER color → guess by source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92040" y="4206240"/>
            <a:ext cx="914400" cy="0"/>
          </a:xfrm>
          <a:prstGeom prst="line">
            <a:avLst/>
          </a:prstGeom>
          <a:noFill/>
          <a:ln w="31750">
            <a:solidFill>
              <a:srgbClr val="1D9E75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617720" y="3611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confine to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306324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EEF5F1"/>
          </a:solidFill>
          <a:ln w="19050">
            <a:solidFill>
              <a:srgbClr val="1D9E7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3136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within-source episode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58584" y="4279392"/>
            <a:ext cx="310896" cy="310896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77D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31736" y="4352544"/>
            <a:ext cx="164592" cy="164592"/>
          </a:xfrm>
          <a:prstGeom prst="ellipse">
            <a:avLst/>
          </a:prstGeom>
          <a:solidFill>
            <a:srgbClr val="C77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55941" y="3895344"/>
            <a:ext cx="164592" cy="164592"/>
          </a:xfrm>
          <a:prstGeom prst="ellipse">
            <a:avLst/>
          </a:prstGeom>
          <a:solidFill>
            <a:srgbClr val="C77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48472" y="4443984"/>
            <a:ext cx="164592" cy="164592"/>
          </a:xfrm>
          <a:prstGeom prst="ellipse">
            <a:avLst/>
          </a:prstGeom>
          <a:solidFill>
            <a:srgbClr val="C77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58430" y="4809744"/>
            <a:ext cx="164592" cy="164592"/>
          </a:xfrm>
          <a:prstGeom prst="ellipse">
            <a:avLst/>
          </a:prstGeom>
          <a:solidFill>
            <a:srgbClr val="C77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43493" y="4032504"/>
            <a:ext cx="164592" cy="164592"/>
          </a:xfrm>
          <a:prstGeom prst="ellipse">
            <a:avLst/>
          </a:prstGeom>
          <a:solidFill>
            <a:srgbClr val="C77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5394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one source → must use neighborhood structure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829800" y="3063240"/>
            <a:ext cx="1691640" cy="2286000"/>
          </a:xfrm>
          <a:prstGeom prst="roundRect">
            <a:avLst>
              <a:gd name="adj" fmla="val 4324"/>
            </a:avLst>
          </a:prstGeom>
          <a:solidFill>
            <a:srgbClr val="0B3D2E"/>
          </a:solidFill>
          <a:ln/>
        </p:spPr>
      </p:sp>
      <p:sp>
        <p:nvSpPr>
          <p:cNvPr id="27" name="Text 25"/>
          <p:cNvSpPr/>
          <p:nvPr/>
        </p:nvSpPr>
        <p:spPr>
          <a:xfrm>
            <a:off x="10012680" y="329184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b="1" spc="100" kern="0" dirty="0">
                <a:solidFill>
                  <a:srgbClr val="A7D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episode drawn from one source (chosen ∝ its size).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4 OF 4 · IMPROVEMENT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Merged-within-balanced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7ECE4"/>
          </a:solidFill>
          <a:ln w="12700">
            <a:solidFill>
              <a:srgbClr val="E4C4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A84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— the small source is starved.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sources differ wildly in size (covid ≈ 23M nodes, midterm ≈ 0.34M), proportional sampling trains on midterm only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A84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~1.5% of episodes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 the merged model effectively ignores it.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97280" y="293522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(naive / within-source)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3246120"/>
            <a:ext cx="6845198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7960766" y="3246120"/>
            <a:ext cx="104242" cy="502920"/>
          </a:xfrm>
          <a:prstGeom prst="rect">
            <a:avLst/>
          </a:prstGeom>
          <a:solidFill>
            <a:srgbClr val="C77D33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246120"/>
            <a:ext cx="68451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99%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813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A84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1.5% — a sliver of episodes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92440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7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→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97280" y="458114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(pick the source 50 / 50)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4892040"/>
            <a:ext cx="347472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4590288" y="4892040"/>
            <a:ext cx="3474720" cy="502920"/>
          </a:xfrm>
          <a:prstGeom prst="rect">
            <a:avLst/>
          </a:prstGeom>
          <a:solidFill>
            <a:srgbClr val="C77D33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892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50%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54589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50% — equal exposure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4892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732520" y="3063240"/>
            <a:ext cx="2788920" cy="2651760"/>
          </a:xfrm>
          <a:prstGeom prst="roundRect">
            <a:avLst>
              <a:gd name="adj" fmla="val 2759"/>
            </a:avLst>
          </a:prstGeom>
          <a:solidFill>
            <a:srgbClr val="0B3D2E"/>
          </a:solidFill>
          <a:ln/>
        </p:spPr>
      </p:sp>
      <p:sp>
        <p:nvSpPr>
          <p:cNvPr id="19" name="Text 17"/>
          <p:cNvSpPr/>
          <p:nvPr/>
        </p:nvSpPr>
        <p:spPr>
          <a:xfrm>
            <a:off x="8942832" y="3310128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b="1" spc="100" kern="0" dirty="0">
                <a:solidFill>
                  <a:srgbClr val="A7D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episode's source uniformly, not by size.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A7D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Rescues the small domain: midterm 0.33 → 0.43 accuracy.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TRAINED-ON GRAPHS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Merging buys a generalist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737360" y="19476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ukr + covid  (balanced sizes)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737360" y="2331720"/>
            <a:ext cx="3931920" cy="3108960"/>
          </a:xfrm>
          <a:prstGeom prst="rect">
            <a:avLst/>
          </a:prstGeom>
          <a:solidFill>
            <a:srgbClr val="FBFDFC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2404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C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on both →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737360" y="54955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on covid 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 rot="16200000">
            <a:off x="68580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on ukr 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55403" y="2664982"/>
            <a:ext cx="173736" cy="173736"/>
          </a:xfrm>
          <a:prstGeom prst="ellipse">
            <a:avLst/>
          </a:prstGeom>
          <a:solidFill>
            <a:srgbClr val="3332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75343" y="262383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3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75046" y="4849656"/>
            <a:ext cx="173736" cy="173736"/>
          </a:xfrm>
          <a:prstGeom prst="ellipse">
            <a:avLst/>
          </a:prstGeom>
          <a:solidFill>
            <a:srgbClr val="3332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9930" y="49182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65224" y="3757319"/>
            <a:ext cx="173736" cy="173736"/>
          </a:xfrm>
          <a:prstGeom prst="ellipse">
            <a:avLst/>
          </a:prstGeom>
          <a:solidFill>
            <a:srgbClr val="A7DE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71932" y="3825899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9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72590" y="3085111"/>
            <a:ext cx="173736" cy="17373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7474" y="3126259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merged-within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589520" y="19476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covid + midterm  (imbalanced)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89520" y="2331720"/>
            <a:ext cx="3931920" cy="3108960"/>
          </a:xfrm>
          <a:prstGeom prst="rect">
            <a:avLst/>
          </a:prstGeom>
          <a:solidFill>
            <a:srgbClr val="FBFDFC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2404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C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on both →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589520" y="54955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on covid 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 rot="16200000">
            <a:off x="653796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on midterm 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943027" y="2590292"/>
            <a:ext cx="173736" cy="173736"/>
          </a:xfrm>
          <a:prstGeom prst="ellipse">
            <a:avLst/>
          </a:prstGeom>
          <a:solidFill>
            <a:srgbClr val="3332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57911" y="2631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1151474" y="4893225"/>
            <a:ext cx="173736" cy="173736"/>
          </a:xfrm>
          <a:prstGeom prst="ellipse">
            <a:avLst/>
          </a:prstGeom>
          <a:solidFill>
            <a:srgbClr val="3332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34838" y="4998381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33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1151474" y="4950799"/>
            <a:ext cx="173736" cy="173736"/>
          </a:xfrm>
          <a:prstGeom prst="ellipse">
            <a:avLst/>
          </a:prstGeom>
          <a:solidFill>
            <a:srgbClr val="A7DE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366358" y="5055955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F9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1151474" y="4432639"/>
            <a:ext cx="173736" cy="17373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366358" y="4391491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merged-within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1057108" y="2763012"/>
            <a:ext cx="173736" cy="173736"/>
          </a:xfrm>
          <a:prstGeom prst="ellipse">
            <a:avLst/>
          </a:prstGeom>
          <a:solidFill>
            <a:srgbClr val="0B5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00776" y="28315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merged-within-balanced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737360" y="598932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models are lopsided (great on one axis, weak on the other). Merged models pull to the top-right. </a:t>
            </a:r>
            <a:pPr indent="0" marL="0">
              <a:buNone/>
            </a:pPr>
            <a:r>
              <a:rPr lang="en-US" sz="14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imbalance, only </a:t>
            </a:r>
            <a:pPr indent="0" marL="0">
              <a:buNone/>
            </a:pPr>
            <a:r>
              <a:rPr lang="en-US" sz="14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pPr indent="0" marL="0">
              <a:buNone/>
            </a:pPr>
            <a:r>
              <a:rPr lang="en-US" sz="14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reaches it — the rest collapse onto covid and ignore midterm.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HELD-OUT (UNSEEN) GRAPH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generalization boost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0" y="1901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ukr+cov → test midterm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0" y="228600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0" y="1901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cov+mid → test ukr</a:t>
            </a:r>
            <a:endParaRPr lang="en-US" sz="16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8229600" y="228600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1280160" y="5806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graph no model trained on, merged ≈ the best single source — no gain from more graphs. </a:t>
            </a:r>
            <a:pPr indent="0" marL="0">
              <a:buNone/>
            </a:pPr>
            <a:r>
              <a:rPr lang="en-US" sz="14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rides on the most-similar source (covid); </a:t>
            </a:r>
            <a:pPr indent="0" marL="0">
              <a:buNone/>
            </a:pPr>
            <a:r>
              <a:rPr lang="en-US" sz="1450" b="1" dirty="0">
                <a:solidFill>
                  <a:srgbClr val="A84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is actually weakest OOD.</a:t>
            </a:r>
            <a:pPr indent="0" marL="0">
              <a:buNone/>
            </a:pPr>
            <a:r>
              <a:rPr lang="en-US" sz="1450" i="1" dirty="0">
                <a:solidFill>
                  <a:srgbClr val="6C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(In-domain ceilings: midterm 0.93, ukr 0.95 — all bars fall short.)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0515600" cy="1920240"/>
          </a:xfrm>
          <a:prstGeom prst="roundRect">
            <a:avLst>
              <a:gd name="adj" fmla="val 4762"/>
            </a:avLst>
          </a:prstGeom>
          <a:solidFill>
            <a:srgbClr val="124A38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2377440"/>
            <a:ext cx="822960" cy="822960"/>
          </a:xfrm>
          <a:prstGeom prst="ellipse">
            <a:avLst/>
          </a:prstGeom>
          <a:solidFill>
            <a:srgbClr val="A7DEC8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286000" y="21214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Merging wins on the graphs you train on.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0" y="2670048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inversion: a merged model matches or beats single-source on every trained domain. Under size imbalance, balanced within-source sampling is what keeps the small domain from being starved.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10515600" cy="1920240"/>
          </a:xfrm>
          <a:prstGeom prst="roundRect">
            <a:avLst>
              <a:gd name="adj" fmla="val 4762"/>
            </a:avLst>
          </a:prstGeom>
          <a:solidFill>
            <a:srgbClr val="124A38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663440"/>
            <a:ext cx="822960" cy="822960"/>
          </a:xfrm>
          <a:prstGeom prst="ellipse">
            <a:avLst/>
          </a:prstGeom>
          <a:solidFill>
            <a:srgbClr val="C77D33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663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286000" y="44074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more graphs ≠ better generalization.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86000" y="4956048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 unseen graph, merged gives no boost over the best single source — transfer rides on having a similar source, not more of them. Balanced, best in-distribution, is the weakest out-of-distribution.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Merging retweet graphs for neighbor-matching</dc:title>
  <dc:subject>PptxGenJS Presentation</dc:subject>
  <dc:creator>Philipp Eibl</dc:creator>
  <cp:lastModifiedBy>Philipp Eibl</cp:lastModifiedBy>
  <cp:revision>1</cp:revision>
  <dcterms:created xsi:type="dcterms:W3CDTF">2026-07-01T20:25:47Z</dcterms:created>
  <dcterms:modified xsi:type="dcterms:W3CDTF">2026-07-01T20:25:47Z</dcterms:modified>
</cp:coreProperties>
</file>